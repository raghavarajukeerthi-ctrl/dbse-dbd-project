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Lst>
  <p:sldSz cx="18288000" cy="10287000"/>
  <p:notesSz cx="6858000" cy="9144000"/>
  <p:embeddedFontLst>
    <p:embeddedFont>
      <p:font typeface="Catchy Mager" panose="020B0604020202020204" charset="0"/>
      <p:regular r:id="rId7"/>
    </p:embeddedFont>
    <p:embeddedFont>
      <p:font typeface="Montserrat" panose="00000500000000000000" pitchFamily="2" charset="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51576" t="-3683" r="-850" b="-48743"/>
            </a:stretch>
          </a:blipFill>
        </p:spPr>
      </p:sp>
      <p:grpSp>
        <p:nvGrpSpPr>
          <p:cNvPr id="3" name="Group 3"/>
          <p:cNvGrpSpPr/>
          <p:nvPr/>
        </p:nvGrpSpPr>
        <p:grpSpPr>
          <a:xfrm>
            <a:off x="825571" y="648590"/>
            <a:ext cx="16636859" cy="8989819"/>
            <a:chOff x="0" y="0"/>
            <a:chExt cx="4381724" cy="2367689"/>
          </a:xfrm>
        </p:grpSpPr>
        <p:sp>
          <p:nvSpPr>
            <p:cNvPr id="4" name="Freeform 4"/>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38100" cap="sq">
              <a:solidFill>
                <a:srgbClr val="F3F0F1"/>
              </a:solidFill>
              <a:prstDash val="solid"/>
              <a:miter/>
            </a:ln>
          </p:spPr>
        </p:sp>
        <p:sp>
          <p:nvSpPr>
            <p:cNvPr id="5" name="TextBox 5"/>
            <p:cNvSpPr txBox="1"/>
            <p:nvPr/>
          </p:nvSpPr>
          <p:spPr>
            <a:xfrm>
              <a:off x="0" y="38100"/>
              <a:ext cx="4381724" cy="2329589"/>
            </a:xfrm>
            <a:prstGeom prst="rect">
              <a:avLst/>
            </a:prstGeom>
          </p:spPr>
          <p:txBody>
            <a:bodyPr lIns="50800" tIns="50800" rIns="50800" bIns="50800" rtlCol="0" anchor="ctr"/>
            <a:lstStyle/>
            <a:p>
              <a:pPr algn="ctr">
                <a:lnSpc>
                  <a:spcPts val="2356"/>
                </a:lnSpc>
              </a:pPr>
              <a:endParaRPr/>
            </a:p>
          </p:txBody>
        </p:sp>
      </p:grpSp>
      <p:sp>
        <p:nvSpPr>
          <p:cNvPr id="6" name="TextBox 6"/>
          <p:cNvSpPr txBox="1"/>
          <p:nvPr/>
        </p:nvSpPr>
        <p:spPr>
          <a:xfrm>
            <a:off x="1232832" y="1870629"/>
            <a:ext cx="15822336" cy="964904"/>
          </a:xfrm>
          <a:prstGeom prst="rect">
            <a:avLst/>
          </a:prstGeom>
        </p:spPr>
        <p:txBody>
          <a:bodyPr lIns="0" tIns="0" rIns="0" bIns="0" rtlCol="0" anchor="t">
            <a:spAutoFit/>
          </a:bodyPr>
          <a:lstStyle/>
          <a:p>
            <a:pPr algn="ctr">
              <a:lnSpc>
                <a:spcPts val="7018"/>
              </a:lnSpc>
            </a:pPr>
            <a:r>
              <a:rPr lang="en-US" sz="7018" spc="1888" dirty="0">
                <a:solidFill>
                  <a:srgbClr val="260317"/>
                </a:solidFill>
                <a:latin typeface="Catchy Mager"/>
                <a:ea typeface="Catchy Mager"/>
                <a:cs typeface="Catchy Mager"/>
                <a:sym typeface="Catchy Mager"/>
              </a:rPr>
              <a:t>TICKET BOOKING SYSTEM </a:t>
            </a:r>
          </a:p>
        </p:txBody>
      </p:sp>
      <p:sp>
        <p:nvSpPr>
          <p:cNvPr id="7" name="TextBox 7"/>
          <p:cNvSpPr txBox="1"/>
          <p:nvPr/>
        </p:nvSpPr>
        <p:spPr>
          <a:xfrm>
            <a:off x="2977670" y="3935623"/>
            <a:ext cx="10166003" cy="3969904"/>
          </a:xfrm>
          <a:prstGeom prst="rect">
            <a:avLst/>
          </a:prstGeom>
        </p:spPr>
        <p:txBody>
          <a:bodyPr lIns="0" tIns="0" rIns="0" bIns="0" rtlCol="0" anchor="t">
            <a:spAutoFit/>
          </a:bodyPr>
          <a:lstStyle/>
          <a:p>
            <a:pPr algn="just">
              <a:lnSpc>
                <a:spcPts val="8042"/>
              </a:lnSpc>
            </a:pPr>
            <a:r>
              <a:rPr lang="en-US" sz="3775" spc="83">
                <a:solidFill>
                  <a:srgbClr val="260317"/>
                </a:solidFill>
                <a:latin typeface="Montserrat"/>
                <a:ea typeface="Montserrat"/>
                <a:cs typeface="Montserrat"/>
                <a:sym typeface="Montserrat"/>
              </a:rPr>
              <a:t>Name: SRR. Keerthi</a:t>
            </a:r>
          </a:p>
          <a:p>
            <a:pPr algn="just">
              <a:lnSpc>
                <a:spcPts val="8042"/>
              </a:lnSpc>
            </a:pPr>
            <a:r>
              <a:rPr lang="en-US" sz="3775" spc="83">
                <a:solidFill>
                  <a:srgbClr val="260317"/>
                </a:solidFill>
                <a:latin typeface="Montserrat"/>
                <a:ea typeface="Montserrat"/>
                <a:cs typeface="Montserrat"/>
                <a:sym typeface="Montserrat"/>
              </a:rPr>
              <a:t>ID: 2520090150</a:t>
            </a:r>
          </a:p>
          <a:p>
            <a:pPr algn="just">
              <a:lnSpc>
                <a:spcPts val="8042"/>
              </a:lnSpc>
            </a:pPr>
            <a:r>
              <a:rPr lang="en-US" sz="3775" spc="83">
                <a:solidFill>
                  <a:srgbClr val="260317"/>
                </a:solidFill>
                <a:latin typeface="Montserrat"/>
                <a:ea typeface="Montserrat"/>
                <a:cs typeface="Montserrat"/>
                <a:sym typeface="Montserrat"/>
              </a:rPr>
              <a:t>Name: P. Jahnavi</a:t>
            </a:r>
          </a:p>
          <a:p>
            <a:pPr marL="0" lvl="0" indent="0" algn="just">
              <a:lnSpc>
                <a:spcPts val="8042"/>
              </a:lnSpc>
            </a:pPr>
            <a:r>
              <a:rPr lang="en-US" sz="3775" spc="83">
                <a:solidFill>
                  <a:srgbClr val="260317"/>
                </a:solidFill>
                <a:latin typeface="Montserrat"/>
                <a:ea typeface="Montserrat"/>
                <a:cs typeface="Montserrat"/>
                <a:sym typeface="Montserrat"/>
              </a:rPr>
              <a:t>ID: 2520090012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51576" t="-3683" r="-850" b="-48743"/>
            </a:stretch>
          </a:blipFill>
        </p:spPr>
      </p:sp>
      <p:grpSp>
        <p:nvGrpSpPr>
          <p:cNvPr id="3" name="Group 3"/>
          <p:cNvGrpSpPr/>
          <p:nvPr/>
        </p:nvGrpSpPr>
        <p:grpSpPr>
          <a:xfrm>
            <a:off x="825571" y="648590"/>
            <a:ext cx="16636859" cy="8989819"/>
            <a:chOff x="0" y="0"/>
            <a:chExt cx="4381724" cy="2367689"/>
          </a:xfrm>
        </p:grpSpPr>
        <p:sp>
          <p:nvSpPr>
            <p:cNvPr id="4" name="Freeform 4"/>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38100" cap="sq">
              <a:solidFill>
                <a:srgbClr val="F3F0F1"/>
              </a:solidFill>
              <a:prstDash val="solid"/>
              <a:miter/>
            </a:ln>
          </p:spPr>
        </p:sp>
        <p:sp>
          <p:nvSpPr>
            <p:cNvPr id="5" name="TextBox 5"/>
            <p:cNvSpPr txBox="1"/>
            <p:nvPr/>
          </p:nvSpPr>
          <p:spPr>
            <a:xfrm>
              <a:off x="0" y="38100"/>
              <a:ext cx="4381724" cy="2329589"/>
            </a:xfrm>
            <a:prstGeom prst="rect">
              <a:avLst/>
            </a:prstGeom>
          </p:spPr>
          <p:txBody>
            <a:bodyPr lIns="50800" tIns="50800" rIns="50800" bIns="50800" rtlCol="0" anchor="ctr"/>
            <a:lstStyle/>
            <a:p>
              <a:pPr algn="ctr">
                <a:lnSpc>
                  <a:spcPts val="2356"/>
                </a:lnSpc>
              </a:pPr>
              <a:endParaRPr/>
            </a:p>
          </p:txBody>
        </p:sp>
      </p:grpSp>
      <p:sp>
        <p:nvSpPr>
          <p:cNvPr id="6" name="TextBox 6"/>
          <p:cNvSpPr txBox="1"/>
          <p:nvPr/>
        </p:nvSpPr>
        <p:spPr>
          <a:xfrm>
            <a:off x="1739383" y="2510549"/>
            <a:ext cx="14342383" cy="6252691"/>
          </a:xfrm>
          <a:prstGeom prst="rect">
            <a:avLst/>
          </a:prstGeom>
        </p:spPr>
        <p:txBody>
          <a:bodyPr lIns="0" tIns="0" rIns="0" bIns="0" rtlCol="0" anchor="t">
            <a:spAutoFit/>
          </a:bodyPr>
          <a:lstStyle/>
          <a:p>
            <a:pPr algn="l">
              <a:lnSpc>
                <a:spcPts val="3531"/>
              </a:lnSpc>
            </a:pPr>
            <a:endParaRPr/>
          </a:p>
          <a:p>
            <a:pPr algn="l">
              <a:lnSpc>
                <a:spcPts val="3531"/>
              </a:lnSpc>
            </a:pPr>
            <a:endParaRPr/>
          </a:p>
          <a:p>
            <a:pPr algn="l">
              <a:lnSpc>
                <a:spcPts val="3531"/>
              </a:lnSpc>
            </a:pPr>
            <a:r>
              <a:rPr lang="en-US" sz="2522">
                <a:solidFill>
                  <a:srgbClr val="260317"/>
                </a:solidFill>
                <a:latin typeface="Montserrat"/>
                <a:ea typeface="Montserrat"/>
                <a:cs typeface="Montserrat"/>
                <a:sym typeface="Montserrat"/>
              </a:rPr>
              <a:t>The Ticket Booking System is a database-driven application designed to provide a reliable and secure ticket reservation process. The system allows users to view available tickets, make bookings, cancel reservations, and check their booking history. The main challenge addressed by the project is concurrent booking, where multiple users may attempt to reserve the same ticket at the same time. To prevent double booking and maintain data consistency, the system uses database transactions and concurrency-control mechanisms. The backend verifies ticket availability and safely processes each booking request before updating the database. This ensures that only one user can successfully reserve a particular ticket. The project demonstrates the practical application of database management, transaction processing, concurrency control, and backend development to build a reliable ticket-booking system.</a:t>
            </a:r>
          </a:p>
          <a:p>
            <a:pPr algn="l">
              <a:lnSpc>
                <a:spcPts val="3531"/>
              </a:lnSpc>
            </a:pPr>
            <a:endParaRPr lang="en-US" sz="2522">
              <a:solidFill>
                <a:srgbClr val="260317"/>
              </a:solidFill>
              <a:latin typeface="Montserrat"/>
              <a:ea typeface="Montserrat"/>
              <a:cs typeface="Montserrat"/>
              <a:sym typeface="Montserrat"/>
            </a:endParaRPr>
          </a:p>
        </p:txBody>
      </p:sp>
      <p:sp>
        <p:nvSpPr>
          <p:cNvPr id="7" name="TextBox 7"/>
          <p:cNvSpPr txBox="1"/>
          <p:nvPr/>
        </p:nvSpPr>
        <p:spPr>
          <a:xfrm>
            <a:off x="1269605" y="1563311"/>
            <a:ext cx="8384262" cy="790108"/>
          </a:xfrm>
          <a:prstGeom prst="rect">
            <a:avLst/>
          </a:prstGeom>
        </p:spPr>
        <p:txBody>
          <a:bodyPr lIns="0" tIns="0" rIns="0" bIns="0" rtlCol="0" anchor="t">
            <a:spAutoFit/>
          </a:bodyPr>
          <a:lstStyle/>
          <a:p>
            <a:pPr algn="just">
              <a:lnSpc>
                <a:spcPts val="5738"/>
              </a:lnSpc>
            </a:pPr>
            <a:r>
              <a:rPr lang="en-US" sz="5977" spc="663">
                <a:solidFill>
                  <a:srgbClr val="260317"/>
                </a:solidFill>
                <a:latin typeface="Catchy Mager"/>
                <a:ea typeface="Catchy Mager"/>
                <a:cs typeface="Catchy Mager"/>
                <a:sym typeface="Catchy Mager"/>
              </a:rPr>
              <a:t>ABSTRACT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0F1"/>
        </a:solidFill>
        <a:effectLst/>
      </p:bgPr>
    </p:bg>
    <p:spTree>
      <p:nvGrpSpPr>
        <p:cNvPr id="1" name=""/>
        <p:cNvGrpSpPr/>
        <p:nvPr/>
      </p:nvGrpSpPr>
      <p:grpSpPr>
        <a:xfrm>
          <a:off x="0" y="0"/>
          <a:ext cx="0" cy="0"/>
          <a:chOff x="0" y="0"/>
          <a:chExt cx="0" cy="0"/>
        </a:xfrm>
      </p:grpSpPr>
      <p:grpSp>
        <p:nvGrpSpPr>
          <p:cNvPr id="2" name="Group 2"/>
          <p:cNvGrpSpPr/>
          <p:nvPr/>
        </p:nvGrpSpPr>
        <p:grpSpPr>
          <a:xfrm>
            <a:off x="825571" y="648590"/>
            <a:ext cx="16636859" cy="8989819"/>
            <a:chOff x="0" y="0"/>
            <a:chExt cx="4381724" cy="2367689"/>
          </a:xfrm>
        </p:grpSpPr>
        <p:sp>
          <p:nvSpPr>
            <p:cNvPr id="3" name="Freeform 3"/>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9525" cap="sq">
              <a:solidFill>
                <a:srgbClr val="260317"/>
              </a:solidFill>
              <a:prstDash val="solid"/>
              <a:miter/>
            </a:ln>
          </p:spPr>
        </p:sp>
        <p:sp>
          <p:nvSpPr>
            <p:cNvPr id="4" name="TextBox 4"/>
            <p:cNvSpPr txBox="1"/>
            <p:nvPr/>
          </p:nvSpPr>
          <p:spPr>
            <a:xfrm>
              <a:off x="0" y="38100"/>
              <a:ext cx="4381724" cy="2329589"/>
            </a:xfrm>
            <a:prstGeom prst="rect">
              <a:avLst/>
            </a:prstGeom>
          </p:spPr>
          <p:txBody>
            <a:bodyPr lIns="50800" tIns="50800" rIns="50800" bIns="50800" rtlCol="0" anchor="ctr"/>
            <a:lstStyle/>
            <a:p>
              <a:pPr algn="ctr">
                <a:lnSpc>
                  <a:spcPts val="2356"/>
                </a:lnSpc>
              </a:pPr>
              <a:endParaRPr/>
            </a:p>
          </p:txBody>
        </p:sp>
      </p:grpSp>
      <p:grpSp>
        <p:nvGrpSpPr>
          <p:cNvPr id="5" name="Group 5"/>
          <p:cNvGrpSpPr/>
          <p:nvPr/>
        </p:nvGrpSpPr>
        <p:grpSpPr>
          <a:xfrm>
            <a:off x="2218867" y="2967713"/>
            <a:ext cx="6812693" cy="2909096"/>
            <a:chOff x="0" y="0"/>
            <a:chExt cx="894514" cy="381968"/>
          </a:xfrm>
        </p:grpSpPr>
        <p:sp>
          <p:nvSpPr>
            <p:cNvPr id="6" name="Freeform 6"/>
            <p:cNvSpPr/>
            <p:nvPr/>
          </p:nvSpPr>
          <p:spPr>
            <a:xfrm>
              <a:off x="0" y="0"/>
              <a:ext cx="894514" cy="381968"/>
            </a:xfrm>
            <a:custGeom>
              <a:avLst/>
              <a:gdLst/>
              <a:ahLst/>
              <a:cxnLst/>
              <a:rect l="l" t="t" r="r" b="b"/>
              <a:pathLst>
                <a:path w="894514" h="381968">
                  <a:moveTo>
                    <a:pt x="10228" y="0"/>
                  </a:moveTo>
                  <a:lnTo>
                    <a:pt x="884287" y="0"/>
                  </a:lnTo>
                  <a:cubicBezTo>
                    <a:pt x="889935" y="0"/>
                    <a:pt x="894514" y="4579"/>
                    <a:pt x="894514" y="10228"/>
                  </a:cubicBezTo>
                  <a:lnTo>
                    <a:pt x="894514" y="371740"/>
                  </a:lnTo>
                  <a:cubicBezTo>
                    <a:pt x="894514" y="374453"/>
                    <a:pt x="893437" y="377054"/>
                    <a:pt x="891519" y="378972"/>
                  </a:cubicBezTo>
                  <a:cubicBezTo>
                    <a:pt x="889600" y="380890"/>
                    <a:pt x="886999" y="381968"/>
                    <a:pt x="884287" y="381968"/>
                  </a:cubicBezTo>
                  <a:lnTo>
                    <a:pt x="10228" y="381968"/>
                  </a:lnTo>
                  <a:cubicBezTo>
                    <a:pt x="4579" y="381968"/>
                    <a:pt x="0" y="377389"/>
                    <a:pt x="0" y="371740"/>
                  </a:cubicBezTo>
                  <a:lnTo>
                    <a:pt x="0" y="10228"/>
                  </a:lnTo>
                  <a:cubicBezTo>
                    <a:pt x="0" y="7515"/>
                    <a:pt x="1078" y="4914"/>
                    <a:pt x="2996" y="2996"/>
                  </a:cubicBezTo>
                  <a:cubicBezTo>
                    <a:pt x="4914" y="1078"/>
                    <a:pt x="7515" y="0"/>
                    <a:pt x="10228" y="0"/>
                  </a:cubicBezTo>
                  <a:close/>
                </a:path>
              </a:pathLst>
            </a:custGeom>
            <a:solidFill>
              <a:srgbClr val="EAD3E0"/>
            </a:solidFill>
            <a:ln cap="sq">
              <a:noFill/>
              <a:prstDash val="solid"/>
              <a:miter/>
            </a:ln>
          </p:spPr>
        </p:sp>
        <p:sp>
          <p:nvSpPr>
            <p:cNvPr id="7" name="TextBox 7"/>
            <p:cNvSpPr txBox="1"/>
            <p:nvPr/>
          </p:nvSpPr>
          <p:spPr>
            <a:xfrm>
              <a:off x="0" y="-57150"/>
              <a:ext cx="894514" cy="439118"/>
            </a:xfrm>
            <a:prstGeom prst="rect">
              <a:avLst/>
            </a:prstGeom>
          </p:spPr>
          <p:txBody>
            <a:bodyPr lIns="50800" tIns="50800" rIns="50800" bIns="50800" rtlCol="0" anchor="ctr"/>
            <a:lstStyle/>
            <a:p>
              <a:pPr algn="ctr">
                <a:lnSpc>
                  <a:spcPts val="4480"/>
                </a:lnSpc>
              </a:pPr>
              <a:endParaRPr/>
            </a:p>
          </p:txBody>
        </p:sp>
      </p:grpSp>
      <p:grpSp>
        <p:nvGrpSpPr>
          <p:cNvPr id="8" name="Group 8"/>
          <p:cNvGrpSpPr/>
          <p:nvPr/>
        </p:nvGrpSpPr>
        <p:grpSpPr>
          <a:xfrm>
            <a:off x="9256440" y="2967713"/>
            <a:ext cx="6812693" cy="2909096"/>
            <a:chOff x="0" y="0"/>
            <a:chExt cx="894514" cy="381968"/>
          </a:xfrm>
        </p:grpSpPr>
        <p:sp>
          <p:nvSpPr>
            <p:cNvPr id="9" name="Freeform 9"/>
            <p:cNvSpPr/>
            <p:nvPr/>
          </p:nvSpPr>
          <p:spPr>
            <a:xfrm>
              <a:off x="0" y="0"/>
              <a:ext cx="894514" cy="381968"/>
            </a:xfrm>
            <a:custGeom>
              <a:avLst/>
              <a:gdLst/>
              <a:ahLst/>
              <a:cxnLst/>
              <a:rect l="l" t="t" r="r" b="b"/>
              <a:pathLst>
                <a:path w="894514" h="381968">
                  <a:moveTo>
                    <a:pt x="10228" y="0"/>
                  </a:moveTo>
                  <a:lnTo>
                    <a:pt x="884287" y="0"/>
                  </a:lnTo>
                  <a:cubicBezTo>
                    <a:pt x="889935" y="0"/>
                    <a:pt x="894514" y="4579"/>
                    <a:pt x="894514" y="10228"/>
                  </a:cubicBezTo>
                  <a:lnTo>
                    <a:pt x="894514" y="371740"/>
                  </a:lnTo>
                  <a:cubicBezTo>
                    <a:pt x="894514" y="374453"/>
                    <a:pt x="893437" y="377054"/>
                    <a:pt x="891519" y="378972"/>
                  </a:cubicBezTo>
                  <a:cubicBezTo>
                    <a:pt x="889600" y="380890"/>
                    <a:pt x="886999" y="381968"/>
                    <a:pt x="884287" y="381968"/>
                  </a:cubicBezTo>
                  <a:lnTo>
                    <a:pt x="10228" y="381968"/>
                  </a:lnTo>
                  <a:cubicBezTo>
                    <a:pt x="4579" y="381968"/>
                    <a:pt x="0" y="377389"/>
                    <a:pt x="0" y="371740"/>
                  </a:cubicBezTo>
                  <a:lnTo>
                    <a:pt x="0" y="10228"/>
                  </a:lnTo>
                  <a:cubicBezTo>
                    <a:pt x="0" y="7515"/>
                    <a:pt x="1078" y="4914"/>
                    <a:pt x="2996" y="2996"/>
                  </a:cubicBezTo>
                  <a:cubicBezTo>
                    <a:pt x="4914" y="1078"/>
                    <a:pt x="7515" y="0"/>
                    <a:pt x="10228" y="0"/>
                  </a:cubicBezTo>
                  <a:close/>
                </a:path>
              </a:pathLst>
            </a:custGeom>
            <a:solidFill>
              <a:srgbClr val="F3F0F1"/>
            </a:solidFill>
            <a:ln w="19050" cap="sq">
              <a:solidFill>
                <a:srgbClr val="260317"/>
              </a:solidFill>
              <a:prstDash val="solid"/>
              <a:miter/>
            </a:ln>
          </p:spPr>
        </p:sp>
        <p:sp>
          <p:nvSpPr>
            <p:cNvPr id="10" name="TextBox 10"/>
            <p:cNvSpPr txBox="1"/>
            <p:nvPr/>
          </p:nvSpPr>
          <p:spPr>
            <a:xfrm>
              <a:off x="0" y="-57150"/>
              <a:ext cx="894514" cy="439118"/>
            </a:xfrm>
            <a:prstGeom prst="rect">
              <a:avLst/>
            </a:prstGeom>
          </p:spPr>
          <p:txBody>
            <a:bodyPr lIns="50800" tIns="50800" rIns="50800" bIns="50800" rtlCol="0" anchor="ctr"/>
            <a:lstStyle/>
            <a:p>
              <a:pPr algn="ctr">
                <a:lnSpc>
                  <a:spcPts val="4480"/>
                </a:lnSpc>
              </a:pPr>
              <a:endParaRPr/>
            </a:p>
          </p:txBody>
        </p:sp>
      </p:grpSp>
      <p:grpSp>
        <p:nvGrpSpPr>
          <p:cNvPr id="11" name="Group 11"/>
          <p:cNvGrpSpPr/>
          <p:nvPr/>
        </p:nvGrpSpPr>
        <p:grpSpPr>
          <a:xfrm>
            <a:off x="9256440" y="6024079"/>
            <a:ext cx="6812693" cy="2909096"/>
            <a:chOff x="0" y="0"/>
            <a:chExt cx="894514" cy="381968"/>
          </a:xfrm>
        </p:grpSpPr>
        <p:sp>
          <p:nvSpPr>
            <p:cNvPr id="12" name="Freeform 12"/>
            <p:cNvSpPr/>
            <p:nvPr/>
          </p:nvSpPr>
          <p:spPr>
            <a:xfrm>
              <a:off x="0" y="0"/>
              <a:ext cx="894514" cy="381968"/>
            </a:xfrm>
            <a:custGeom>
              <a:avLst/>
              <a:gdLst/>
              <a:ahLst/>
              <a:cxnLst/>
              <a:rect l="l" t="t" r="r" b="b"/>
              <a:pathLst>
                <a:path w="894514" h="381968">
                  <a:moveTo>
                    <a:pt x="10228" y="0"/>
                  </a:moveTo>
                  <a:lnTo>
                    <a:pt x="884287" y="0"/>
                  </a:lnTo>
                  <a:cubicBezTo>
                    <a:pt x="889935" y="0"/>
                    <a:pt x="894514" y="4579"/>
                    <a:pt x="894514" y="10228"/>
                  </a:cubicBezTo>
                  <a:lnTo>
                    <a:pt x="894514" y="371740"/>
                  </a:lnTo>
                  <a:cubicBezTo>
                    <a:pt x="894514" y="374453"/>
                    <a:pt x="893437" y="377054"/>
                    <a:pt x="891519" y="378972"/>
                  </a:cubicBezTo>
                  <a:cubicBezTo>
                    <a:pt x="889600" y="380890"/>
                    <a:pt x="886999" y="381968"/>
                    <a:pt x="884287" y="381968"/>
                  </a:cubicBezTo>
                  <a:lnTo>
                    <a:pt x="10228" y="381968"/>
                  </a:lnTo>
                  <a:cubicBezTo>
                    <a:pt x="4579" y="381968"/>
                    <a:pt x="0" y="377389"/>
                    <a:pt x="0" y="371740"/>
                  </a:cubicBezTo>
                  <a:lnTo>
                    <a:pt x="0" y="10228"/>
                  </a:lnTo>
                  <a:cubicBezTo>
                    <a:pt x="0" y="7515"/>
                    <a:pt x="1078" y="4914"/>
                    <a:pt x="2996" y="2996"/>
                  </a:cubicBezTo>
                  <a:cubicBezTo>
                    <a:pt x="4914" y="1078"/>
                    <a:pt x="7515" y="0"/>
                    <a:pt x="10228" y="0"/>
                  </a:cubicBezTo>
                  <a:close/>
                </a:path>
              </a:pathLst>
            </a:custGeom>
            <a:solidFill>
              <a:srgbClr val="EAD3E0"/>
            </a:solidFill>
            <a:ln cap="sq">
              <a:noFill/>
              <a:prstDash val="solid"/>
              <a:miter/>
            </a:ln>
          </p:spPr>
        </p:sp>
        <p:sp>
          <p:nvSpPr>
            <p:cNvPr id="13" name="TextBox 13"/>
            <p:cNvSpPr txBox="1"/>
            <p:nvPr/>
          </p:nvSpPr>
          <p:spPr>
            <a:xfrm>
              <a:off x="0" y="-57150"/>
              <a:ext cx="894514" cy="439118"/>
            </a:xfrm>
            <a:prstGeom prst="rect">
              <a:avLst/>
            </a:prstGeom>
          </p:spPr>
          <p:txBody>
            <a:bodyPr lIns="50800" tIns="50800" rIns="50800" bIns="50800" rtlCol="0" anchor="ctr"/>
            <a:lstStyle/>
            <a:p>
              <a:pPr algn="ctr">
                <a:lnSpc>
                  <a:spcPts val="4480"/>
                </a:lnSpc>
              </a:pPr>
              <a:endParaRPr/>
            </a:p>
          </p:txBody>
        </p:sp>
      </p:grpSp>
      <p:grpSp>
        <p:nvGrpSpPr>
          <p:cNvPr id="14" name="Group 14"/>
          <p:cNvGrpSpPr/>
          <p:nvPr/>
        </p:nvGrpSpPr>
        <p:grpSpPr>
          <a:xfrm>
            <a:off x="2218867" y="6024079"/>
            <a:ext cx="6812693" cy="2909096"/>
            <a:chOff x="0" y="0"/>
            <a:chExt cx="894514" cy="381968"/>
          </a:xfrm>
        </p:grpSpPr>
        <p:sp>
          <p:nvSpPr>
            <p:cNvPr id="15" name="Freeform 15"/>
            <p:cNvSpPr/>
            <p:nvPr/>
          </p:nvSpPr>
          <p:spPr>
            <a:xfrm>
              <a:off x="0" y="0"/>
              <a:ext cx="894514" cy="381968"/>
            </a:xfrm>
            <a:custGeom>
              <a:avLst/>
              <a:gdLst/>
              <a:ahLst/>
              <a:cxnLst/>
              <a:rect l="l" t="t" r="r" b="b"/>
              <a:pathLst>
                <a:path w="894514" h="381968">
                  <a:moveTo>
                    <a:pt x="10228" y="0"/>
                  </a:moveTo>
                  <a:lnTo>
                    <a:pt x="884287" y="0"/>
                  </a:lnTo>
                  <a:cubicBezTo>
                    <a:pt x="889935" y="0"/>
                    <a:pt x="894514" y="4579"/>
                    <a:pt x="894514" y="10228"/>
                  </a:cubicBezTo>
                  <a:lnTo>
                    <a:pt x="894514" y="371740"/>
                  </a:lnTo>
                  <a:cubicBezTo>
                    <a:pt x="894514" y="374453"/>
                    <a:pt x="893437" y="377054"/>
                    <a:pt x="891519" y="378972"/>
                  </a:cubicBezTo>
                  <a:cubicBezTo>
                    <a:pt x="889600" y="380890"/>
                    <a:pt x="886999" y="381968"/>
                    <a:pt x="884287" y="381968"/>
                  </a:cubicBezTo>
                  <a:lnTo>
                    <a:pt x="10228" y="381968"/>
                  </a:lnTo>
                  <a:cubicBezTo>
                    <a:pt x="4579" y="381968"/>
                    <a:pt x="0" y="377389"/>
                    <a:pt x="0" y="371740"/>
                  </a:cubicBezTo>
                  <a:lnTo>
                    <a:pt x="0" y="10228"/>
                  </a:lnTo>
                  <a:cubicBezTo>
                    <a:pt x="0" y="7515"/>
                    <a:pt x="1078" y="4914"/>
                    <a:pt x="2996" y="2996"/>
                  </a:cubicBezTo>
                  <a:cubicBezTo>
                    <a:pt x="4914" y="1078"/>
                    <a:pt x="7515" y="0"/>
                    <a:pt x="10228" y="0"/>
                  </a:cubicBezTo>
                  <a:close/>
                </a:path>
              </a:pathLst>
            </a:custGeom>
            <a:solidFill>
              <a:srgbClr val="F3F0F1"/>
            </a:solidFill>
            <a:ln w="19050" cap="sq">
              <a:solidFill>
                <a:srgbClr val="260317"/>
              </a:solidFill>
              <a:prstDash val="solid"/>
              <a:miter/>
            </a:ln>
          </p:spPr>
        </p:sp>
        <p:sp>
          <p:nvSpPr>
            <p:cNvPr id="16" name="TextBox 16"/>
            <p:cNvSpPr txBox="1"/>
            <p:nvPr/>
          </p:nvSpPr>
          <p:spPr>
            <a:xfrm>
              <a:off x="0" y="-57150"/>
              <a:ext cx="894514" cy="439118"/>
            </a:xfrm>
            <a:prstGeom prst="rect">
              <a:avLst/>
            </a:prstGeom>
          </p:spPr>
          <p:txBody>
            <a:bodyPr lIns="50800" tIns="50800" rIns="50800" bIns="50800" rtlCol="0" anchor="ctr"/>
            <a:lstStyle/>
            <a:p>
              <a:pPr algn="ctr">
                <a:lnSpc>
                  <a:spcPts val="4480"/>
                </a:lnSpc>
              </a:pPr>
              <a:endParaRPr/>
            </a:p>
          </p:txBody>
        </p:sp>
      </p:grpSp>
      <p:sp>
        <p:nvSpPr>
          <p:cNvPr id="17" name="TextBox 17"/>
          <p:cNvSpPr txBox="1"/>
          <p:nvPr/>
        </p:nvSpPr>
        <p:spPr>
          <a:xfrm>
            <a:off x="1028700" y="1566239"/>
            <a:ext cx="16230600" cy="1023105"/>
          </a:xfrm>
          <a:prstGeom prst="rect">
            <a:avLst/>
          </a:prstGeom>
        </p:spPr>
        <p:txBody>
          <a:bodyPr lIns="0" tIns="0" rIns="0" bIns="0" rtlCol="0" anchor="t">
            <a:spAutoFit/>
          </a:bodyPr>
          <a:lstStyle/>
          <a:p>
            <a:pPr algn="ctr">
              <a:lnSpc>
                <a:spcPts val="7956"/>
              </a:lnSpc>
            </a:pPr>
            <a:r>
              <a:rPr lang="en-US" sz="6468" spc="1086">
                <a:solidFill>
                  <a:srgbClr val="260317"/>
                </a:solidFill>
                <a:latin typeface="Catchy Mager"/>
                <a:ea typeface="Catchy Mager"/>
                <a:cs typeface="Catchy Mager"/>
                <a:sym typeface="Catchy Mager"/>
              </a:rPr>
              <a:t>SOFTWARE USED </a:t>
            </a:r>
          </a:p>
        </p:txBody>
      </p:sp>
      <p:sp>
        <p:nvSpPr>
          <p:cNvPr id="18" name="TextBox 18"/>
          <p:cNvSpPr txBox="1"/>
          <p:nvPr/>
        </p:nvSpPr>
        <p:spPr>
          <a:xfrm>
            <a:off x="2525370" y="3895363"/>
            <a:ext cx="6199687" cy="1044271"/>
          </a:xfrm>
          <a:prstGeom prst="rect">
            <a:avLst/>
          </a:prstGeom>
        </p:spPr>
        <p:txBody>
          <a:bodyPr lIns="0" tIns="0" rIns="0" bIns="0" rtlCol="0" anchor="t">
            <a:spAutoFit/>
          </a:bodyPr>
          <a:lstStyle/>
          <a:p>
            <a:pPr algn="l">
              <a:lnSpc>
                <a:spcPts val="4198"/>
              </a:lnSpc>
            </a:pPr>
            <a:r>
              <a:rPr lang="en-US" sz="3413" spc="378">
                <a:solidFill>
                  <a:srgbClr val="260317"/>
                </a:solidFill>
                <a:latin typeface="Catchy Mager"/>
                <a:ea typeface="Catchy Mager"/>
                <a:cs typeface="Catchy Mager"/>
                <a:sym typeface="Catchy Mager"/>
              </a:rPr>
              <a:t>JAVA - BACKEND PROGRAMMING</a:t>
            </a:r>
          </a:p>
        </p:txBody>
      </p:sp>
      <p:sp>
        <p:nvSpPr>
          <p:cNvPr id="19" name="TextBox 19"/>
          <p:cNvSpPr txBox="1"/>
          <p:nvPr/>
        </p:nvSpPr>
        <p:spPr>
          <a:xfrm>
            <a:off x="9626690" y="3885838"/>
            <a:ext cx="6072194" cy="1072685"/>
          </a:xfrm>
          <a:prstGeom prst="rect">
            <a:avLst/>
          </a:prstGeom>
        </p:spPr>
        <p:txBody>
          <a:bodyPr lIns="0" tIns="0" rIns="0" bIns="0" rtlCol="0" anchor="t">
            <a:spAutoFit/>
          </a:bodyPr>
          <a:lstStyle/>
          <a:p>
            <a:pPr algn="l">
              <a:lnSpc>
                <a:spcPts val="4250"/>
              </a:lnSpc>
            </a:pPr>
            <a:r>
              <a:rPr lang="en-US" sz="3455" spc="383" dirty="0">
                <a:solidFill>
                  <a:srgbClr val="260317"/>
                </a:solidFill>
                <a:latin typeface="Catchy Mager"/>
                <a:ea typeface="Catchy Mager"/>
                <a:cs typeface="Catchy Mager"/>
                <a:sym typeface="Catchy Mager"/>
              </a:rPr>
              <a:t>MYSQL – DATABASE MANAGEMENT</a:t>
            </a:r>
          </a:p>
        </p:txBody>
      </p:sp>
      <p:sp>
        <p:nvSpPr>
          <p:cNvPr id="20" name="TextBox 20"/>
          <p:cNvSpPr txBox="1"/>
          <p:nvPr/>
        </p:nvSpPr>
        <p:spPr>
          <a:xfrm>
            <a:off x="2525370" y="6881159"/>
            <a:ext cx="6072194" cy="551433"/>
          </a:xfrm>
          <a:prstGeom prst="rect">
            <a:avLst/>
          </a:prstGeom>
        </p:spPr>
        <p:txBody>
          <a:bodyPr lIns="0" tIns="0" rIns="0" bIns="0" rtlCol="0" anchor="t">
            <a:spAutoFit/>
          </a:bodyPr>
          <a:lstStyle/>
          <a:p>
            <a:pPr algn="l">
              <a:lnSpc>
                <a:spcPts val="4250"/>
              </a:lnSpc>
            </a:pPr>
            <a:r>
              <a:rPr lang="en-US" sz="3455" spc="383" dirty="0">
                <a:solidFill>
                  <a:srgbClr val="260317"/>
                </a:solidFill>
                <a:latin typeface="Catchy Mager"/>
                <a:ea typeface="Catchy Mager"/>
                <a:cs typeface="Catchy Mager"/>
                <a:sym typeface="Catchy Mager"/>
              </a:rPr>
              <a:t>FRONTEND – React.js</a:t>
            </a:r>
          </a:p>
        </p:txBody>
      </p:sp>
      <p:sp>
        <p:nvSpPr>
          <p:cNvPr id="21" name="TextBox 21"/>
          <p:cNvSpPr txBox="1"/>
          <p:nvPr/>
        </p:nvSpPr>
        <p:spPr>
          <a:xfrm>
            <a:off x="9626690" y="6984600"/>
            <a:ext cx="6072194" cy="1102866"/>
          </a:xfrm>
          <a:prstGeom prst="rect">
            <a:avLst/>
          </a:prstGeom>
        </p:spPr>
        <p:txBody>
          <a:bodyPr lIns="0" tIns="0" rIns="0" bIns="0" rtlCol="0" anchor="t">
            <a:spAutoFit/>
          </a:bodyPr>
          <a:lstStyle/>
          <a:p>
            <a:pPr algn="l">
              <a:lnSpc>
                <a:spcPts val="4250"/>
              </a:lnSpc>
            </a:pPr>
            <a:r>
              <a:rPr lang="en-US" sz="3455" spc="383" dirty="0">
                <a:solidFill>
                  <a:srgbClr val="260317"/>
                </a:solidFill>
                <a:latin typeface="Catchy Mager"/>
                <a:ea typeface="Catchy Mager"/>
                <a:cs typeface="Catchy Mager"/>
                <a:sym typeface="Catchy Mager"/>
              </a:rPr>
              <a:t>VS CODE – DEVELOPMENT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0F1"/>
        </a:solidFill>
        <a:effectLst/>
      </p:bgPr>
    </p:bg>
    <p:spTree>
      <p:nvGrpSpPr>
        <p:cNvPr id="1" name=""/>
        <p:cNvGrpSpPr/>
        <p:nvPr/>
      </p:nvGrpSpPr>
      <p:grpSpPr>
        <a:xfrm>
          <a:off x="0" y="0"/>
          <a:ext cx="0" cy="0"/>
          <a:chOff x="0" y="0"/>
          <a:chExt cx="0" cy="0"/>
        </a:xfrm>
      </p:grpSpPr>
      <p:grpSp>
        <p:nvGrpSpPr>
          <p:cNvPr id="2" name="Group 2"/>
          <p:cNvGrpSpPr/>
          <p:nvPr/>
        </p:nvGrpSpPr>
        <p:grpSpPr>
          <a:xfrm>
            <a:off x="806521" y="620015"/>
            <a:ext cx="16636859" cy="8989819"/>
            <a:chOff x="0" y="0"/>
            <a:chExt cx="4381724" cy="2367689"/>
          </a:xfrm>
        </p:grpSpPr>
        <p:sp>
          <p:nvSpPr>
            <p:cNvPr id="3" name="Freeform 3"/>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9525" cap="sq">
              <a:solidFill>
                <a:srgbClr val="260317"/>
              </a:solidFill>
              <a:prstDash val="solid"/>
              <a:miter/>
            </a:ln>
          </p:spPr>
        </p:sp>
        <p:sp>
          <p:nvSpPr>
            <p:cNvPr id="4" name="TextBox 4"/>
            <p:cNvSpPr txBox="1"/>
            <p:nvPr/>
          </p:nvSpPr>
          <p:spPr>
            <a:xfrm>
              <a:off x="0" y="38100"/>
              <a:ext cx="4381724" cy="2329589"/>
            </a:xfrm>
            <a:prstGeom prst="rect">
              <a:avLst/>
            </a:prstGeom>
          </p:spPr>
          <p:txBody>
            <a:bodyPr lIns="50800" tIns="50800" rIns="50800" bIns="50800" rtlCol="0" anchor="ctr"/>
            <a:lstStyle/>
            <a:p>
              <a:pPr algn="ctr">
                <a:lnSpc>
                  <a:spcPts val="2356"/>
                </a:lnSpc>
              </a:pPr>
              <a:endParaRPr/>
            </a:p>
          </p:txBody>
        </p:sp>
      </p:grpSp>
      <p:sp>
        <p:nvSpPr>
          <p:cNvPr id="5" name="TextBox 5"/>
          <p:cNvSpPr txBox="1"/>
          <p:nvPr/>
        </p:nvSpPr>
        <p:spPr>
          <a:xfrm>
            <a:off x="2428669" y="3831505"/>
            <a:ext cx="5521731" cy="1250551"/>
          </a:xfrm>
          <a:prstGeom prst="rect">
            <a:avLst/>
          </a:prstGeom>
        </p:spPr>
        <p:txBody>
          <a:bodyPr lIns="0" tIns="0" rIns="0" bIns="0" rtlCol="0" anchor="t">
            <a:spAutoFit/>
          </a:bodyPr>
          <a:lstStyle/>
          <a:p>
            <a:pPr algn="l">
              <a:lnSpc>
                <a:spcPts val="3362"/>
              </a:lnSpc>
              <a:spcBef>
                <a:spcPct val="0"/>
              </a:spcBef>
            </a:pPr>
            <a:r>
              <a:rPr lang="en-US" sz="2402">
                <a:solidFill>
                  <a:srgbClr val="260317"/>
                </a:solidFill>
                <a:latin typeface="Montserrat"/>
                <a:ea typeface="Montserrat"/>
                <a:cs typeface="Montserrat"/>
                <a:sym typeface="Montserrat"/>
              </a:rPr>
              <a:t> Ensures correct database operations when multiple users access data simultaneously.</a:t>
            </a:r>
          </a:p>
        </p:txBody>
      </p:sp>
      <p:sp>
        <p:nvSpPr>
          <p:cNvPr id="6" name="TextBox 6"/>
          <p:cNvSpPr txBox="1"/>
          <p:nvPr/>
        </p:nvSpPr>
        <p:spPr>
          <a:xfrm>
            <a:off x="10253205" y="3821980"/>
            <a:ext cx="5606126" cy="1217482"/>
          </a:xfrm>
          <a:prstGeom prst="rect">
            <a:avLst/>
          </a:prstGeom>
        </p:spPr>
        <p:txBody>
          <a:bodyPr lIns="0" tIns="0" rIns="0" bIns="0" rtlCol="0" anchor="t">
            <a:spAutoFit/>
          </a:bodyPr>
          <a:lstStyle/>
          <a:p>
            <a:pPr algn="l">
              <a:lnSpc>
                <a:spcPts val="3244"/>
              </a:lnSpc>
              <a:spcBef>
                <a:spcPct val="0"/>
              </a:spcBef>
            </a:pPr>
            <a:r>
              <a:rPr lang="en-US" sz="2317">
                <a:solidFill>
                  <a:srgbClr val="260317"/>
                </a:solidFill>
                <a:latin typeface="Montserrat"/>
                <a:ea typeface="Montserrat"/>
                <a:cs typeface="Montserrat"/>
                <a:sym typeface="Montserrat"/>
              </a:rPr>
              <a:t>Concurrent requests can cause the same ticket to be booked more than once.</a:t>
            </a:r>
          </a:p>
        </p:txBody>
      </p:sp>
      <p:grpSp>
        <p:nvGrpSpPr>
          <p:cNvPr id="7" name="Group 7"/>
          <p:cNvGrpSpPr/>
          <p:nvPr/>
        </p:nvGrpSpPr>
        <p:grpSpPr>
          <a:xfrm>
            <a:off x="2360455" y="2783575"/>
            <a:ext cx="13430661" cy="565169"/>
            <a:chOff x="0" y="0"/>
            <a:chExt cx="3537293" cy="148851"/>
          </a:xfrm>
        </p:grpSpPr>
        <p:sp>
          <p:nvSpPr>
            <p:cNvPr id="8" name="Freeform 8"/>
            <p:cNvSpPr/>
            <p:nvPr/>
          </p:nvSpPr>
          <p:spPr>
            <a:xfrm>
              <a:off x="0" y="0"/>
              <a:ext cx="3537293" cy="148851"/>
            </a:xfrm>
            <a:custGeom>
              <a:avLst/>
              <a:gdLst/>
              <a:ahLst/>
              <a:cxnLst/>
              <a:rect l="l" t="t" r="r" b="b"/>
              <a:pathLst>
                <a:path w="3537293" h="148851">
                  <a:moveTo>
                    <a:pt x="0" y="0"/>
                  </a:moveTo>
                  <a:lnTo>
                    <a:pt x="3537293" y="0"/>
                  </a:lnTo>
                  <a:lnTo>
                    <a:pt x="3537293" y="148851"/>
                  </a:lnTo>
                  <a:lnTo>
                    <a:pt x="0" y="148851"/>
                  </a:lnTo>
                  <a:close/>
                </a:path>
              </a:pathLst>
            </a:custGeom>
            <a:solidFill>
              <a:srgbClr val="EAD3E0"/>
            </a:solidFill>
          </p:spPr>
        </p:sp>
        <p:sp>
          <p:nvSpPr>
            <p:cNvPr id="9" name="TextBox 9"/>
            <p:cNvSpPr txBox="1"/>
            <p:nvPr/>
          </p:nvSpPr>
          <p:spPr>
            <a:xfrm>
              <a:off x="0" y="-38100"/>
              <a:ext cx="3537293" cy="186951"/>
            </a:xfrm>
            <a:prstGeom prst="rect">
              <a:avLst/>
            </a:prstGeom>
          </p:spPr>
          <p:txBody>
            <a:bodyPr lIns="50800" tIns="50800" rIns="50800" bIns="50800" rtlCol="0" anchor="ctr"/>
            <a:lstStyle/>
            <a:p>
              <a:pPr algn="r">
                <a:lnSpc>
                  <a:spcPts val="2659"/>
                </a:lnSpc>
              </a:pPr>
              <a:endParaRPr/>
            </a:p>
          </p:txBody>
        </p:sp>
      </p:grpSp>
      <p:sp>
        <p:nvSpPr>
          <p:cNvPr id="10" name="TextBox 10"/>
          <p:cNvSpPr txBox="1"/>
          <p:nvPr/>
        </p:nvSpPr>
        <p:spPr>
          <a:xfrm>
            <a:off x="2251590" y="1171575"/>
            <a:ext cx="13386514" cy="929397"/>
          </a:xfrm>
          <a:prstGeom prst="rect">
            <a:avLst/>
          </a:prstGeom>
        </p:spPr>
        <p:txBody>
          <a:bodyPr lIns="0" tIns="0" rIns="0" bIns="0" rtlCol="0" anchor="t">
            <a:spAutoFit/>
          </a:bodyPr>
          <a:lstStyle/>
          <a:p>
            <a:pPr algn="ctr">
              <a:lnSpc>
                <a:spcPts val="6772"/>
              </a:lnSpc>
            </a:pPr>
            <a:r>
              <a:rPr lang="en-US" sz="7054" spc="1439">
                <a:solidFill>
                  <a:srgbClr val="260317"/>
                </a:solidFill>
                <a:latin typeface="Catchy Mager"/>
                <a:ea typeface="Catchy Mager"/>
                <a:cs typeface="Catchy Mager"/>
                <a:sym typeface="Catchy Mager"/>
              </a:rPr>
              <a:t>LITERATURE SURVEY</a:t>
            </a:r>
          </a:p>
        </p:txBody>
      </p:sp>
      <p:sp>
        <p:nvSpPr>
          <p:cNvPr id="11" name="TextBox 11"/>
          <p:cNvSpPr txBox="1"/>
          <p:nvPr/>
        </p:nvSpPr>
        <p:spPr>
          <a:xfrm>
            <a:off x="2428669" y="2919783"/>
            <a:ext cx="4842599" cy="349904"/>
          </a:xfrm>
          <a:prstGeom prst="rect">
            <a:avLst/>
          </a:prstGeom>
        </p:spPr>
        <p:txBody>
          <a:bodyPr lIns="0" tIns="0" rIns="0" bIns="0" rtlCol="0" anchor="t">
            <a:spAutoFit/>
          </a:bodyPr>
          <a:lstStyle/>
          <a:p>
            <a:pPr marL="589360" lvl="1" indent="-294680" algn="l">
              <a:lnSpc>
                <a:spcPts val="2620"/>
              </a:lnSpc>
              <a:buFont typeface="Arial"/>
              <a:buChar char="•"/>
            </a:pPr>
            <a:r>
              <a:rPr lang="en-US" sz="2729" spc="196">
                <a:solidFill>
                  <a:srgbClr val="260317"/>
                </a:solidFill>
                <a:latin typeface="Montserrat"/>
                <a:ea typeface="Montserrat"/>
                <a:cs typeface="Montserrat"/>
                <a:sym typeface="Montserrat"/>
              </a:rPr>
              <a:t>ConcurrencyControl:</a:t>
            </a:r>
          </a:p>
        </p:txBody>
      </p:sp>
      <p:sp>
        <p:nvSpPr>
          <p:cNvPr id="12" name="TextBox 12"/>
          <p:cNvSpPr txBox="1"/>
          <p:nvPr/>
        </p:nvSpPr>
        <p:spPr>
          <a:xfrm>
            <a:off x="10116775" y="2919783"/>
            <a:ext cx="5674341" cy="349904"/>
          </a:xfrm>
          <a:prstGeom prst="rect">
            <a:avLst/>
          </a:prstGeom>
        </p:spPr>
        <p:txBody>
          <a:bodyPr lIns="0" tIns="0" rIns="0" bIns="0" rtlCol="0" anchor="t">
            <a:spAutoFit/>
          </a:bodyPr>
          <a:lstStyle/>
          <a:p>
            <a:pPr marL="589360" lvl="1" indent="-294680" algn="l">
              <a:lnSpc>
                <a:spcPts val="2620"/>
              </a:lnSpc>
              <a:buFont typeface="Arial"/>
              <a:buChar char="•"/>
            </a:pPr>
            <a:r>
              <a:rPr lang="en-US" sz="2729" spc="196">
                <a:solidFill>
                  <a:srgbClr val="260317"/>
                </a:solidFill>
                <a:latin typeface="Montserrat"/>
                <a:ea typeface="Montserrat"/>
                <a:cs typeface="Montserrat"/>
                <a:sym typeface="Montserrat"/>
              </a:rPr>
              <a:t>Double Booking: </a:t>
            </a:r>
          </a:p>
        </p:txBody>
      </p:sp>
      <p:grpSp>
        <p:nvGrpSpPr>
          <p:cNvPr id="13" name="Group 13"/>
          <p:cNvGrpSpPr/>
          <p:nvPr/>
        </p:nvGrpSpPr>
        <p:grpSpPr>
          <a:xfrm>
            <a:off x="2428669" y="6089028"/>
            <a:ext cx="13430661" cy="562155"/>
            <a:chOff x="0" y="0"/>
            <a:chExt cx="3537293" cy="148057"/>
          </a:xfrm>
        </p:grpSpPr>
        <p:sp>
          <p:nvSpPr>
            <p:cNvPr id="14" name="Freeform 14"/>
            <p:cNvSpPr/>
            <p:nvPr/>
          </p:nvSpPr>
          <p:spPr>
            <a:xfrm>
              <a:off x="0" y="0"/>
              <a:ext cx="3537293" cy="148057"/>
            </a:xfrm>
            <a:custGeom>
              <a:avLst/>
              <a:gdLst/>
              <a:ahLst/>
              <a:cxnLst/>
              <a:rect l="l" t="t" r="r" b="b"/>
              <a:pathLst>
                <a:path w="3537293" h="148057">
                  <a:moveTo>
                    <a:pt x="0" y="0"/>
                  </a:moveTo>
                  <a:lnTo>
                    <a:pt x="3537293" y="0"/>
                  </a:lnTo>
                  <a:lnTo>
                    <a:pt x="3537293" y="148057"/>
                  </a:lnTo>
                  <a:lnTo>
                    <a:pt x="0" y="148057"/>
                  </a:lnTo>
                  <a:close/>
                </a:path>
              </a:pathLst>
            </a:custGeom>
            <a:solidFill>
              <a:srgbClr val="EAD3E0"/>
            </a:solidFill>
          </p:spPr>
        </p:sp>
        <p:sp>
          <p:nvSpPr>
            <p:cNvPr id="15" name="TextBox 15"/>
            <p:cNvSpPr txBox="1"/>
            <p:nvPr/>
          </p:nvSpPr>
          <p:spPr>
            <a:xfrm>
              <a:off x="0" y="-38100"/>
              <a:ext cx="3537293" cy="186157"/>
            </a:xfrm>
            <a:prstGeom prst="rect">
              <a:avLst/>
            </a:prstGeom>
          </p:spPr>
          <p:txBody>
            <a:bodyPr lIns="50800" tIns="50800" rIns="50800" bIns="50800" rtlCol="0" anchor="ctr"/>
            <a:lstStyle/>
            <a:p>
              <a:pPr algn="r">
                <a:lnSpc>
                  <a:spcPts val="2659"/>
                </a:lnSpc>
              </a:pPr>
              <a:endParaRPr/>
            </a:p>
          </p:txBody>
        </p:sp>
      </p:grpSp>
      <p:sp>
        <p:nvSpPr>
          <p:cNvPr id="16" name="TextBox 16"/>
          <p:cNvSpPr txBox="1"/>
          <p:nvPr/>
        </p:nvSpPr>
        <p:spPr>
          <a:xfrm>
            <a:off x="2561406" y="6223728"/>
            <a:ext cx="4842599" cy="349904"/>
          </a:xfrm>
          <a:prstGeom prst="rect">
            <a:avLst/>
          </a:prstGeom>
        </p:spPr>
        <p:txBody>
          <a:bodyPr lIns="0" tIns="0" rIns="0" bIns="0" rtlCol="0" anchor="t">
            <a:spAutoFit/>
          </a:bodyPr>
          <a:lstStyle/>
          <a:p>
            <a:pPr marL="589360" lvl="1" indent="-294680" algn="l">
              <a:lnSpc>
                <a:spcPts val="2620"/>
              </a:lnSpc>
              <a:buFont typeface="Arial"/>
              <a:buChar char="•"/>
            </a:pPr>
            <a:r>
              <a:rPr lang="en-US" sz="2729" spc="196">
                <a:solidFill>
                  <a:srgbClr val="260317"/>
                </a:solidFill>
                <a:latin typeface="Montserrat"/>
                <a:ea typeface="Montserrat"/>
                <a:cs typeface="Montserrat"/>
                <a:sym typeface="Montserrat"/>
              </a:rPr>
              <a:t>Locking Mechanisms:</a:t>
            </a:r>
          </a:p>
        </p:txBody>
      </p:sp>
      <p:sp>
        <p:nvSpPr>
          <p:cNvPr id="17" name="TextBox 17"/>
          <p:cNvSpPr txBox="1"/>
          <p:nvPr/>
        </p:nvSpPr>
        <p:spPr>
          <a:xfrm>
            <a:off x="2802296" y="6880430"/>
            <a:ext cx="7778245" cy="826064"/>
          </a:xfrm>
          <a:prstGeom prst="rect">
            <a:avLst/>
          </a:prstGeom>
        </p:spPr>
        <p:txBody>
          <a:bodyPr lIns="0" tIns="0" rIns="0" bIns="0" rtlCol="0" anchor="t">
            <a:spAutoFit/>
          </a:bodyPr>
          <a:lstStyle/>
          <a:p>
            <a:pPr algn="l">
              <a:lnSpc>
                <a:spcPts val="3362"/>
              </a:lnSpc>
              <a:spcBef>
                <a:spcPct val="0"/>
              </a:spcBef>
            </a:pPr>
            <a:r>
              <a:rPr lang="en-US" sz="2402">
                <a:solidFill>
                  <a:srgbClr val="260317"/>
                </a:solidFill>
                <a:latin typeface="Montserrat"/>
                <a:ea typeface="Montserrat"/>
                <a:cs typeface="Montserrat"/>
                <a:sym typeface="Montserrat"/>
              </a:rPr>
              <a:t> Database locks help prevent conflicting transactions during booking.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51576" t="-3683" r="-850" b="-48743"/>
            </a:stretch>
          </a:blipFill>
        </p:spPr>
      </p:sp>
      <p:grpSp>
        <p:nvGrpSpPr>
          <p:cNvPr id="3" name="Group 3"/>
          <p:cNvGrpSpPr/>
          <p:nvPr/>
        </p:nvGrpSpPr>
        <p:grpSpPr>
          <a:xfrm>
            <a:off x="825571" y="648590"/>
            <a:ext cx="16636859" cy="8989819"/>
            <a:chOff x="0" y="0"/>
            <a:chExt cx="4381724" cy="2367689"/>
          </a:xfrm>
        </p:grpSpPr>
        <p:sp>
          <p:nvSpPr>
            <p:cNvPr id="4" name="Freeform 4"/>
            <p:cNvSpPr/>
            <p:nvPr/>
          </p:nvSpPr>
          <p:spPr>
            <a:xfrm>
              <a:off x="0" y="0"/>
              <a:ext cx="4381724" cy="2367689"/>
            </a:xfrm>
            <a:custGeom>
              <a:avLst/>
              <a:gdLst/>
              <a:ahLst/>
              <a:cxnLst/>
              <a:rect l="l" t="t" r="r" b="b"/>
              <a:pathLst>
                <a:path w="4381724" h="2367689">
                  <a:moveTo>
                    <a:pt x="0" y="0"/>
                  </a:moveTo>
                  <a:lnTo>
                    <a:pt x="4381724" y="0"/>
                  </a:lnTo>
                  <a:lnTo>
                    <a:pt x="4381724" y="2367689"/>
                  </a:lnTo>
                  <a:lnTo>
                    <a:pt x="0" y="2367689"/>
                  </a:lnTo>
                  <a:close/>
                </a:path>
              </a:pathLst>
            </a:custGeom>
            <a:ln w="38100" cap="sq">
              <a:solidFill>
                <a:srgbClr val="F3F0F1"/>
              </a:solidFill>
              <a:prstDash val="solid"/>
              <a:miter/>
            </a:ln>
          </p:spPr>
        </p:sp>
        <p:sp>
          <p:nvSpPr>
            <p:cNvPr id="5" name="TextBox 5"/>
            <p:cNvSpPr txBox="1"/>
            <p:nvPr/>
          </p:nvSpPr>
          <p:spPr>
            <a:xfrm>
              <a:off x="0" y="38100"/>
              <a:ext cx="4381724" cy="2329589"/>
            </a:xfrm>
            <a:prstGeom prst="rect">
              <a:avLst/>
            </a:prstGeom>
          </p:spPr>
          <p:txBody>
            <a:bodyPr lIns="50800" tIns="50800" rIns="50800" bIns="50800" rtlCol="0" anchor="ctr"/>
            <a:lstStyle/>
            <a:p>
              <a:pPr algn="ctr">
                <a:lnSpc>
                  <a:spcPts val="2356"/>
                </a:lnSpc>
              </a:pPr>
              <a:endParaRPr/>
            </a:p>
          </p:txBody>
        </p:sp>
      </p:grpSp>
      <p:sp>
        <p:nvSpPr>
          <p:cNvPr id="6" name="TextBox 6"/>
          <p:cNvSpPr txBox="1"/>
          <p:nvPr/>
        </p:nvSpPr>
        <p:spPr>
          <a:xfrm>
            <a:off x="1028700" y="4479114"/>
            <a:ext cx="16230600" cy="1509746"/>
          </a:xfrm>
          <a:prstGeom prst="rect">
            <a:avLst/>
          </a:prstGeom>
        </p:spPr>
        <p:txBody>
          <a:bodyPr lIns="0" tIns="0" rIns="0" bIns="0" rtlCol="0" anchor="t">
            <a:spAutoFit/>
          </a:bodyPr>
          <a:lstStyle/>
          <a:p>
            <a:pPr algn="ctr">
              <a:lnSpc>
                <a:spcPts val="11103"/>
              </a:lnSpc>
            </a:pPr>
            <a:r>
              <a:rPr lang="en-US" sz="11103" spc="2986">
                <a:solidFill>
                  <a:srgbClr val="260317"/>
                </a:solidFill>
                <a:latin typeface="Catchy Mager"/>
                <a:ea typeface="Catchy Mager"/>
                <a:cs typeface="Catchy Mager"/>
                <a:sym typeface="Catchy Mager"/>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226</Words>
  <Application>Microsoft Office PowerPoint</Application>
  <PresentationFormat>Custom</PresentationFormat>
  <Paragraphs>22</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Catchy Mager</vt:lpstr>
      <vt:lpstr>Montserrat</vt: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Ticket Booking System</dc:title>
  <cp:lastModifiedBy>jahnavi padala</cp:lastModifiedBy>
  <cp:revision>2</cp:revision>
  <dcterms:created xsi:type="dcterms:W3CDTF">2006-08-16T00:00:00Z</dcterms:created>
  <dcterms:modified xsi:type="dcterms:W3CDTF">2026-08-19T10:18:31Z</dcterms:modified>
  <dc:identifier>DAHSubpQoe0</dc:identifier>
</cp:coreProperties>
</file>